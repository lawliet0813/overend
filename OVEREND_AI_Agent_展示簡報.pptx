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fffe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1474" y="908745"/>
            <a:ext cx="3180755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60562" y="1023045"/>
            <a:ext cx="262257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OVEREND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291895" y="2166045"/>
            <a:ext cx="4560061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67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智慧文獻管理系統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291895" y="2796778"/>
            <a:ext cx="456006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台灣第一個整合 Apple Intelligence 的學術文獻管理工具</a:t>
            </a:r>
            <a:endParaRPr lang="en-US" sz="1350" dirty="0"/>
          </a:p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自動化整理、智慧分類、語音控制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336602" y="3738562"/>
            <a:ext cx="447064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91895" y="4048125"/>
            <a:ext cx="45600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功能展示簡報 · 2025年1月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研究生的痛點</a:t>
            </a:r>
            <a:endParaRPr lang="en-US" sz="2700" dirty="0"/>
          </a:p>
        </p:txBody>
      </p:sp>
      <p:pic>
        <p:nvPicPr>
          <p:cNvPr id="3" name="Image 0" descr="/tmp/rasterized-gradient-ecffd5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19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1219200"/>
            <a:ext cx="406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文獻爆炸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28700" y="1524000"/>
            <a:ext cx="4069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碩士論文平均需要閱讀 50-100 篇文獻，手動整理耗時 20+ 小時</a:t>
            </a:r>
            <a:endParaRPr lang="en-US" sz="1125" dirty="0"/>
          </a:p>
        </p:txBody>
      </p:sp>
      <p:pic>
        <p:nvPicPr>
          <p:cNvPr id="6" name="Image 1" descr="/tmp/rasterized-gradient-902c6a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66912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966912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分類困難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28700" y="2271713"/>
            <a:ext cx="34975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不同領域、研究方法、主題，難以建立清晰的分類系統</a:t>
            </a:r>
            <a:endParaRPr lang="en-US" sz="1125" dirty="0"/>
          </a:p>
        </p:txBody>
      </p:sp>
      <p:pic>
        <p:nvPicPr>
          <p:cNvPr id="9" name="Image 2" descr="/tmp/rasterized-gradient-fa35a11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14625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8700" y="2714625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重複浪費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028700" y="3019425"/>
            <a:ext cx="262318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不小心下載重複文獻，缺乏自動檢測機制</a:t>
            </a:r>
            <a:endParaRPr lang="en-US" sz="1125" dirty="0"/>
          </a:p>
        </p:txBody>
      </p:sp>
      <p:pic>
        <p:nvPicPr>
          <p:cNvPr id="12" name="Image 3" descr="/tmp/rasterized-gradient-e6476b1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462338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8700" y="3462338"/>
            <a:ext cx="3668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工具複雜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028700" y="3767138"/>
            <a:ext cx="366805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EndNote 繁體中文支援差、介面複雜、需要額外學習成本</a:t>
            </a:r>
            <a:endParaRPr lang="en-US" sz="1125" dirty="0"/>
          </a:p>
        </p:txBody>
      </p:sp>
      <p:sp>
        <p:nvSpPr>
          <p:cNvPr id="15" name="Text 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資料來源：OVEREND 用戶訪談（N=15，政大碩士生，2024年12月）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解決方案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85838"/>
            <a:ext cx="4095750" cy="1595438"/>
          </a:xfrm>
          <a:prstGeom prst="roundRect">
            <a:avLst>
              <a:gd name="adj" fmla="val 716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gradient-9de92f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700" y="1004887"/>
            <a:ext cx="762000" cy="762000"/>
          </a:xfrm>
          <a:prstGeom prst="rect">
            <a:avLst/>
          </a:prstGeom>
        </p:spPr>
      </p:pic>
      <p:pic>
        <p:nvPicPr>
          <p:cNvPr id="5" name="Image 1" descr="/tmp/rasterized-gradient-f4a75f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33488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650" y="1843088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自動整理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28650" y="2147888"/>
            <a:ext cx="367245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匯入即分析，無需手動操作，AI 自動產生分類與標籤建議</a:t>
            </a:r>
            <a:endParaRPr lang="en-US" sz="975" dirty="0"/>
          </a:p>
        </p:txBody>
      </p:sp>
      <p:sp>
        <p:nvSpPr>
          <p:cNvPr id="8" name="Text 4"/>
          <p:cNvSpPr/>
          <p:nvPr/>
        </p:nvSpPr>
        <p:spPr>
          <a:xfrm>
            <a:off x="4667250" y="985838"/>
            <a:ext cx="4095750" cy="1595438"/>
          </a:xfrm>
          <a:prstGeom prst="roundRect">
            <a:avLst>
              <a:gd name="adj" fmla="val 716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/tmp/rasterized-gradient-d0ee95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0" y="1004887"/>
            <a:ext cx="762000" cy="762000"/>
          </a:xfrm>
          <a:prstGeom prst="rect">
            <a:avLst/>
          </a:prstGeom>
        </p:spPr>
      </p:pic>
      <p:pic>
        <p:nvPicPr>
          <p:cNvPr id="10" name="Image 3" descr="/tmp/rasterized-gradient-82f566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233488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14900" y="1843088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智慧分類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914900" y="2147888"/>
            <a:ext cx="367245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深度分析文獻內容，自動建議合適的分組，提升組織效率</a:t>
            </a:r>
            <a:endParaRPr lang="en-US" sz="975" dirty="0"/>
          </a:p>
        </p:txBody>
      </p:sp>
      <p:sp>
        <p:nvSpPr>
          <p:cNvPr id="13" name="Text 7"/>
          <p:cNvSpPr/>
          <p:nvPr/>
        </p:nvSpPr>
        <p:spPr>
          <a:xfrm>
            <a:off x="381000" y="2771775"/>
            <a:ext cx="4095750" cy="1595438"/>
          </a:xfrm>
          <a:prstGeom prst="roundRect">
            <a:avLst>
              <a:gd name="adj" fmla="val 716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4" descr="/tmp/rasterized-gradient-53bd22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2790825"/>
            <a:ext cx="762000" cy="762000"/>
          </a:xfrm>
          <a:prstGeom prst="rect">
            <a:avLst/>
          </a:prstGeom>
        </p:spPr>
      </p:pic>
      <p:pic>
        <p:nvPicPr>
          <p:cNvPr id="15" name="Image 5" descr="/tmp/rasterized-gradient-e61bfab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019425"/>
            <a:ext cx="457200" cy="457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8650" y="3629025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Siri 整合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28650" y="3933825"/>
            <a:ext cx="367245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「用 OVEREND 整理文獻」完全解放雙手的語音操控體驗</a:t>
            </a:r>
            <a:endParaRPr lang="en-US" sz="975" dirty="0"/>
          </a:p>
        </p:txBody>
      </p:sp>
      <p:sp>
        <p:nvSpPr>
          <p:cNvPr id="18" name="Text 10"/>
          <p:cNvSpPr/>
          <p:nvPr/>
        </p:nvSpPr>
        <p:spPr>
          <a:xfrm>
            <a:off x="4667250" y="2771775"/>
            <a:ext cx="4095750" cy="1595438"/>
          </a:xfrm>
          <a:prstGeom prst="roundRect">
            <a:avLst>
              <a:gd name="adj" fmla="val 716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6" descr="/tmp/rasterized-gradient-d25e852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1950" y="2790825"/>
            <a:ext cx="762000" cy="762000"/>
          </a:xfrm>
          <a:prstGeom prst="rect">
            <a:avLst/>
          </a:prstGeom>
        </p:spPr>
      </p:pic>
      <p:pic>
        <p:nvPicPr>
          <p:cNvPr id="20" name="Image 7" descr="/tmp/rasterized-gradient-bb57a8d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019425"/>
            <a:ext cx="457200" cy="4572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914900" y="3629025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隱私保護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4914900" y="3933825"/>
            <a:ext cx="367245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所有 AI 處理在本機執行，資料不上傳雲端，完全本地化</a:t>
            </a:r>
            <a:endParaRPr lang="en-US" sz="975" dirty="0"/>
          </a:p>
        </p:txBody>
      </p:sp>
      <p:sp>
        <p:nvSpPr>
          <p:cNvPr id="23" name="Text 1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基於 Apple Foundation Models 框架開發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大核心任務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30685"/>
            <a:ext cx="2692301" cy="674340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430685"/>
            <a:ext cx="0" cy="674340"/>
          </a:xfrm>
          <a:prstGeom prst="line">
            <a:avLst/>
          </a:prstGeom>
          <a:noFill/>
          <a:ln w="38100">
            <a:solidFill>
              <a:srgbClr val="00D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583085"/>
            <a:ext cx="23963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analyzeEntry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792635"/>
            <a:ext cx="2396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深度分析單篇文獻內容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25701" y="1430685"/>
            <a:ext cx="2692450" cy="674340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44751" y="1430685"/>
            <a:ext cx="0" cy="67434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6201" y="1583085"/>
            <a:ext cx="23965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classifyEntries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6201" y="1792635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批次智慧分類建議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70550" y="1430685"/>
            <a:ext cx="2692301" cy="674340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89600" y="1430685"/>
            <a:ext cx="0" cy="67434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1050" y="1583085"/>
            <a:ext cx="23963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autoTagEntries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1050" y="1792635"/>
            <a:ext cx="2396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自動產生關鍵詞標籤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2257425"/>
            <a:ext cx="2692301" cy="674340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2257425"/>
            <a:ext cx="0" cy="67434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2409825"/>
            <a:ext cx="23963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organizeByTopic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" y="2619375"/>
            <a:ext cx="2396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按主題自動組織文獻庫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5701" y="2257425"/>
            <a:ext cx="2692450" cy="674340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44751" y="2257425"/>
            <a:ext cx="0" cy="67434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6201" y="2409825"/>
            <a:ext cx="23965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generateSummaries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16201" y="2619375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為缺少摘要的文獻生成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0550" y="2257425"/>
            <a:ext cx="2692301" cy="674340"/>
          </a:xfrm>
          <a:prstGeom prst="roundRect">
            <a:avLst>
              <a:gd name="adj" fmla="val 84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89600" y="2257425"/>
            <a:ext cx="0" cy="67434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1050" y="2409825"/>
            <a:ext cx="23963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findDuplicates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1050" y="2619375"/>
            <a:ext cx="2396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智慧檢測重複文獻</a:t>
            </a:r>
            <a:endParaRPr lang="en-US" sz="900" dirty="0"/>
          </a:p>
        </p:txBody>
      </p:sp>
      <p:pic>
        <p:nvPicPr>
          <p:cNvPr id="27" name="Image 0" descr="/tmp/rasterized-gradient-273667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084165"/>
            <a:ext cx="8382000" cy="838200"/>
          </a:xfrm>
          <a:prstGeom prst="rect">
            <a:avLst/>
          </a:prstGeom>
        </p:spPr>
      </p:pic>
      <p:pic>
        <p:nvPicPr>
          <p:cNvPr id="28" name="Image 1" descr="/tmp/rasterized-gradient-200fa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450" y="3103215"/>
            <a:ext cx="952500" cy="9525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90550" y="3302347"/>
            <a:ext cx="33192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batchProcess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90550" y="3530947"/>
            <a:ext cx="3319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一次執行：分類 + 標籤 + 重複檢測，完整的自動化工作流程</a:t>
            </a:r>
            <a:endParaRPr lang="en-US" sz="975" dirty="0"/>
          </a:p>
        </p:txBody>
      </p:sp>
      <p:sp>
        <p:nvSpPr>
          <p:cNvPr id="31" name="Text 27"/>
          <p:cNvSpPr/>
          <p:nvPr/>
        </p:nvSpPr>
        <p:spPr>
          <a:xfrm>
            <a:off x="7486650" y="3293715"/>
            <a:ext cx="1066800" cy="419100"/>
          </a:xfrm>
          <a:prstGeom prst="roundRect">
            <a:avLst>
              <a:gd name="adj" fmla="val 13636"/>
            </a:avLst>
          </a:prstGeom>
          <a:solidFill>
            <a:srgbClr val="00D9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7639050" y="3369915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最強功能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所有任務支援進度追蹤、失敗重試、使用者確認機制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技術架構</a:t>
            </a:r>
            <a:endParaRPr lang="en-US" sz="2700" dirty="0"/>
          </a:p>
        </p:txBody>
      </p:sp>
      <p:pic>
        <p:nvPicPr>
          <p:cNvPr id="3" name="Image 0" descr="/tmp/rasterized-gradient-908852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99232"/>
            <a:ext cx="2667000" cy="586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9732"/>
            <a:ext cx="23317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層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1000" y="170021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4350" y="183356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AgentPanelView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1000" y="218405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4350" y="231740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EmeraldLibraryView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1000" y="266789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4350" y="280124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建議確認對話框</a:t>
            </a:r>
            <a:endParaRPr lang="en-US" sz="900" dirty="0"/>
          </a:p>
        </p:txBody>
      </p:sp>
      <p:pic>
        <p:nvPicPr>
          <p:cNvPr id="11" name="Image 1" descr="/tmp/rasterized-gradient-767b0f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999232"/>
            <a:ext cx="2667000" cy="586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6140" y="1189732"/>
            <a:ext cx="23317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核心層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238500" y="170021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71850" y="183356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LiteratureAgent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238500" y="218405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371850" y="231740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AgentTaskQueue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38500" y="266789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371850" y="280124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AgentAutoTrigger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238500" y="315173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371850" y="328508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AgentTools</a:t>
            </a:r>
            <a:endParaRPr lang="en-US" sz="900" dirty="0"/>
          </a:p>
        </p:txBody>
      </p:sp>
      <p:pic>
        <p:nvPicPr>
          <p:cNvPr id="21" name="Image 2" descr="/tmp/rasterized-gradient-645c21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9232"/>
            <a:ext cx="2667000" cy="5866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1189732"/>
            <a:ext cx="23317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整合層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096000" y="170021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229350" y="183356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Models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096000" y="218405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229350" y="231740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Intents (Siri)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096000" y="266789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229350" y="280124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Data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096000" y="3151733"/>
            <a:ext cx="2667000" cy="426690"/>
          </a:xfrm>
          <a:prstGeom prst="roundRect">
            <a:avLst>
              <a:gd name="adj" fmla="val 178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229350" y="328508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NotificationCenter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381000" y="3807023"/>
            <a:ext cx="2717750" cy="54664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7"/>
          <p:cNvSpPr/>
          <p:nvPr/>
        </p:nvSpPr>
        <p:spPr>
          <a:xfrm>
            <a:off x="395288" y="3807023"/>
            <a:ext cx="0" cy="546646"/>
          </a:xfrm>
          <a:prstGeom prst="line">
            <a:avLst/>
          </a:prstGeom>
          <a:noFill/>
          <a:ln w="28575">
            <a:solidFill>
              <a:srgbClr val="00D97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23875" y="3921323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MVVM 架構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523875" y="4106019"/>
            <a:ext cx="2509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清晰的職責分離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3213050" y="3807023"/>
            <a:ext cx="2717750" cy="54664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3227338" y="3807023"/>
            <a:ext cx="0" cy="546646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355925" y="3921323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事件驅動</a:t>
            </a:r>
            <a:endParaRPr lang="en-US" sz="825" dirty="0"/>
          </a:p>
        </p:txBody>
      </p:sp>
      <p:sp>
        <p:nvSpPr>
          <p:cNvPr id="38" name="Text 33"/>
          <p:cNvSpPr/>
          <p:nvPr/>
        </p:nvSpPr>
        <p:spPr>
          <a:xfrm>
            <a:off x="3355925" y="4106019"/>
            <a:ext cx="2509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非侵入式整合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6045101" y="3807023"/>
            <a:ext cx="2717899" cy="54664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5"/>
          <p:cNvSpPr/>
          <p:nvPr/>
        </p:nvSpPr>
        <p:spPr>
          <a:xfrm>
            <a:off x="6059388" y="3807023"/>
            <a:ext cx="0" cy="54664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187976" y="3921323"/>
            <a:ext cx="25099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模組化設計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6187976" y="4106019"/>
            <a:ext cx="25099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高內聚低耦合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總計 1,610 行專業程式碼 · 98% 完成度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Siri 語音控制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90588"/>
            <a:ext cx="411937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個語音指令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305818"/>
            <a:ext cx="4038600" cy="775246"/>
          </a:xfrm>
          <a:prstGeom prst="roundRect">
            <a:avLst>
              <a:gd name="adj" fmla="val 12286"/>
            </a:avLst>
          </a:prstGeom>
          <a:solidFill>
            <a:srgbClr val="1E293B"/>
          </a:solidFill>
          <a:ln w="19050">
            <a:solidFill>
              <a:srgbClr val="00D97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577" y="1498253"/>
            <a:ext cx="17003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「用 OVEREND 整理文獻」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2450" y="1763018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自動掃描、分類、標籤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214414"/>
            <a:ext cx="4038600" cy="64770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2665" y="2365921"/>
            <a:ext cx="15789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「用 OVEREND 分類文獻」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14350" y="2595414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建議分組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995464"/>
            <a:ext cx="4038600" cy="64770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2665" y="3146971"/>
            <a:ext cx="15789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「用 OVEREND 標籤文獻」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14350" y="3376464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產生標籤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3776514"/>
            <a:ext cx="4038600" cy="64770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2665" y="3928021"/>
            <a:ext cx="14526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「用 OVEREND 找重複」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14350" y="4157514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檢測重複</a:t>
            </a:r>
            <a:endParaRPr lang="en-US" sz="750" dirty="0"/>
          </a:p>
        </p:txBody>
      </p:sp>
      <p:pic>
        <p:nvPicPr>
          <p:cNvPr id="16" name="Image 0" descr="/tmp/rasterized-gradient-1c4c43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947142"/>
            <a:ext cx="4038600" cy="34206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72050" y="1194792"/>
            <a:ext cx="361416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技術實作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972050" y="1552873"/>
            <a:ext cx="35433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086350" y="1667173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Intents Framework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5086350" y="1878509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原生 Siri 整合，無需額外設定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972050" y="2253704"/>
            <a:ext cx="35433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86350" y="2368004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自動開啟 App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5086350" y="2579340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執行完成後顯示結果介面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972050" y="2954536"/>
            <a:ext cx="35433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86350" y="3068836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語音回饋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5086350" y="3280172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Siri 回報執行結果與建議數量</a:t>
            </a:r>
            <a:endParaRPr lang="en-US" sz="825" dirty="0"/>
          </a:p>
        </p:txBody>
      </p:sp>
      <p:pic>
        <p:nvPicPr>
          <p:cNvPr id="27" name="Image 1" descr="/tmp/rasterized-gradient-98a8da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3693468"/>
            <a:ext cx="3543300" cy="42669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72634" y="3826818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台灣第一個支援 Siri 的文獻管理工具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15.0+ · Apple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自動化工作流程</a:t>
            </a:r>
            <a:endParaRPr lang="en-US" sz="2700" dirty="0"/>
          </a:p>
        </p:txBody>
      </p:sp>
      <p:pic>
        <p:nvPicPr>
          <p:cNvPr id="3" name="Image 0" descr="/tmp/rasterized-gradient-98d8ca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10" y="1364010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8198" y="2278410"/>
            <a:ext cx="1305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匯入文獻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8198" y="2554635"/>
            <a:ext cx="13058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BibTeX / PDF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拖放即可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13620" y="19859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pic>
        <p:nvPicPr>
          <p:cNvPr id="7" name="Image 1" descr="/tmp/rasterized-gradient-b74dbdc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629" y="1364010"/>
            <a:ext cx="762000" cy="76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3717" y="2278410"/>
            <a:ext cx="1305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自動觸發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143717" y="2554635"/>
            <a:ext cx="13058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AgentAutoTrigger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監聽匯入事件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589139" y="19859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pic>
        <p:nvPicPr>
          <p:cNvPr id="11" name="Image 2" descr="/tmp/rasterized-gradient-ccb2c7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149" y="1364010"/>
            <a:ext cx="762000" cy="762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9237" y="2278410"/>
            <a:ext cx="1305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分析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919237" y="2554635"/>
            <a:ext cx="13058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分類+標籤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5-10 秒完成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364659" y="19859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pic>
        <p:nvPicPr>
          <p:cNvPr id="15" name="Image 3" descr="/tmp/rasterized-gradient-875f4b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668" y="1364010"/>
            <a:ext cx="762000" cy="762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94756" y="2278410"/>
            <a:ext cx="1305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用戶確認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694756" y="2554635"/>
            <a:ext cx="13058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檢視建議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一鍵套用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140178" y="19859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pic>
        <p:nvPicPr>
          <p:cNvPr id="19" name="Image 4" descr="/tmp/rasterized-gradient-2883907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188" y="1364010"/>
            <a:ext cx="762000" cy="762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70276" y="2278410"/>
            <a:ext cx="1305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完成整理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470276" y="2554635"/>
            <a:ext cx="13058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自動儲存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即刻使用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381000" y="3667274"/>
            <a:ext cx="8382000" cy="771376"/>
          </a:xfrm>
          <a:prstGeom prst="roundRect">
            <a:avLst>
              <a:gd name="adj" fmla="val 98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6"/>
          <p:cNvSpPr/>
          <p:nvPr/>
        </p:nvSpPr>
        <p:spPr>
          <a:xfrm>
            <a:off x="400050" y="3667274"/>
            <a:ext cx="0" cy="771376"/>
          </a:xfrm>
          <a:prstGeom prst="line">
            <a:avLst/>
          </a:prstGeom>
          <a:noFill/>
          <a:ln w="38100">
            <a:solidFill>
              <a:srgbClr val="00D97E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71500" y="3860602"/>
            <a:ext cx="19887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效率提升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71500" y="4085332"/>
            <a:ext cx="1988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傳統方式：2 小時手動整理 100 篇文獻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143801" y="3819674"/>
            <a:ext cx="4667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96%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8143801" y="4139654"/>
            <a:ext cx="466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時間節省</a:t>
            </a:r>
            <a:endParaRPr lang="en-US" sz="825" dirty="0"/>
          </a:p>
        </p:txBody>
      </p:sp>
      <p:sp>
        <p:nvSpPr>
          <p:cNvPr id="28" name="Text 21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分析：5 分鐘自動完成 · 使用者確認：可選擇批次套用或逐一檢視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商業價值與市場定位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45362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差異化競爭優勢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081980"/>
            <a:ext cx="4447282" cy="777032"/>
          </a:xfrm>
          <a:prstGeom prst="roundRect">
            <a:avLst>
              <a:gd name="adj" fmla="val 122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23438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0600" y="1234380"/>
            <a:ext cx="12824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EndNote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90600" y="1445716"/>
            <a:ext cx="12824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手動整理、繁體中文支援差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973312"/>
            <a:ext cx="4447282" cy="777032"/>
          </a:xfrm>
          <a:prstGeom prst="roundRect">
            <a:avLst>
              <a:gd name="adj" fmla="val 122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2125712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0600" y="2125712"/>
            <a:ext cx="10154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Zotero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90600" y="2337048"/>
            <a:ext cx="10154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開源免費但無 AI 功能</a:t>
            </a:r>
            <a:endParaRPr lang="en-US" sz="825" dirty="0"/>
          </a:p>
        </p:txBody>
      </p:sp>
      <p:pic>
        <p:nvPicPr>
          <p:cNvPr id="12" name="Image 0" descr="/tmp/rasterized-gradient-40d1cf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864644"/>
            <a:ext cx="4447282" cy="134094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2450" y="3036094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0D9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09650" y="3036094"/>
            <a:ext cx="8491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OVEREND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9650" y="3279874"/>
            <a:ext cx="849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AI 自動化整理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9650" y="3477964"/>
            <a:ext cx="849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Siri 語音控制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09650" y="3676055"/>
            <a:ext cx="849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繁體中文優化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9650" y="3874145"/>
            <a:ext cx="849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台灣期刊支援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56882" y="723900"/>
            <a:ext cx="37802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目標市場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56882" y="1081980"/>
            <a:ext cx="3706118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28332" y="1300163"/>
            <a:ext cx="7578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台灣碩博士生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8136136" y="1253430"/>
            <a:ext cx="464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215K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228332" y="1634430"/>
            <a:ext cx="3363218" cy="571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1" descr="/tmp/rasterized-gradient-7b994c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32" y="1634430"/>
            <a:ext cx="3363218" cy="571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56882" y="1977330"/>
            <a:ext cx="3706118" cy="1203722"/>
          </a:xfrm>
          <a:prstGeom prst="roundRect">
            <a:avLst>
              <a:gd name="adj" fmla="val 79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228332" y="2148780"/>
            <a:ext cx="34304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訂閱定價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5228332" y="2398216"/>
            <a:ext cx="110604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NT$990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6388894" y="2588716"/>
            <a:ext cx="1615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/年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5228332" y="2863007"/>
            <a:ext cx="3430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學生價（一般價 NT$1,490）</a:t>
            </a:r>
            <a:endParaRPr lang="en-US" sz="825" dirty="0"/>
          </a:p>
        </p:txBody>
      </p:sp>
      <p:pic>
        <p:nvPicPr>
          <p:cNvPr id="30" name="Image 2" descr="/tmp/rasterized-gradient-790658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882" y="3295352"/>
            <a:ext cx="3706118" cy="113317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28332" y="3466802"/>
            <a:ext cx="34304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市場潛力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228332" y="3702993"/>
            <a:ext cx="504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1% 轉換率</a:t>
            </a:r>
            <a:endParaRPr lang="en-US" sz="825" dirty="0"/>
          </a:p>
        </p:txBody>
      </p:sp>
      <p:sp>
        <p:nvSpPr>
          <p:cNvPr id="33" name="Text 28"/>
          <p:cNvSpPr/>
          <p:nvPr/>
        </p:nvSpPr>
        <p:spPr>
          <a:xfrm>
            <a:off x="8102352" y="3702993"/>
            <a:ext cx="4989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NT$2.13M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5228332" y="3906738"/>
            <a:ext cx="504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 轉換率</a:t>
            </a:r>
            <a:endParaRPr lang="en-US" sz="825" dirty="0"/>
          </a:p>
        </p:txBody>
      </p:sp>
      <p:sp>
        <p:nvSpPr>
          <p:cNvPr id="35" name="Text 30"/>
          <p:cNvSpPr/>
          <p:nvPr/>
        </p:nvSpPr>
        <p:spPr>
          <a:xfrm>
            <a:off x="8044011" y="3906738"/>
            <a:ext cx="558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NT$10.65M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5228332" y="4110484"/>
            <a:ext cx="5642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 轉換率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8102352" y="4110484"/>
            <a:ext cx="4989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NT$21.3M</a:t>
            </a:r>
            <a:endParaRPr lang="en-US" sz="825" dirty="0"/>
          </a:p>
        </p:txBody>
      </p:sp>
      <p:sp>
        <p:nvSpPr>
          <p:cNvPr id="38" name="Text 3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資料來源：教育部統計處 2024 · 價格參考：Zotero Storage (US$20/yr), Mendeley Premium (US$55/yr)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技術成就與指標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415823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開發成果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081980"/>
            <a:ext cx="1981200" cy="92958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6636" y="1234380"/>
            <a:ext cx="17099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6636" y="1699171"/>
            <a:ext cx="17099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行程式碼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76500" y="1081980"/>
            <a:ext cx="1981200" cy="92958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12136" y="1234380"/>
            <a:ext cx="17099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12136" y="1699171"/>
            <a:ext cx="17099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核心模組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163961"/>
            <a:ext cx="4076700" cy="651421"/>
          </a:xfrm>
          <a:prstGeom prst="roundRect">
            <a:avLst>
              <a:gd name="adj" fmla="val 14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336304"/>
            <a:ext cx="631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程式碼品質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923854" y="2316361"/>
            <a:ext cx="38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400" y="2605832"/>
            <a:ext cx="3771900" cy="571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tmp/rasterized-gradient-f75977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605832"/>
            <a:ext cx="3771900" cy="571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1000" y="2929682"/>
            <a:ext cx="4076700" cy="651421"/>
          </a:xfrm>
          <a:prstGeom prst="roundRect">
            <a:avLst>
              <a:gd name="adj" fmla="val 14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3400" y="3102025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架構設計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3923854" y="3082082"/>
            <a:ext cx="38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3400" y="3371552"/>
            <a:ext cx="3771900" cy="571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/tmp/rasterized-gradient-368634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371552"/>
            <a:ext cx="3771900" cy="571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1000" y="3695402"/>
            <a:ext cx="4076700" cy="651421"/>
          </a:xfrm>
          <a:prstGeom prst="roundRect">
            <a:avLst>
              <a:gd name="adj" fmla="val 146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33400" y="3867745"/>
            <a:ext cx="631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功能完整性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3923854" y="3847802"/>
            <a:ext cx="38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33400" y="4137273"/>
            <a:ext cx="3771900" cy="571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/tmp/rasterized-gradient-4acee47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37273"/>
            <a:ext cx="3771900" cy="571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86300" y="723900"/>
            <a:ext cx="415823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測試與部署</a:t>
            </a:r>
            <a:endParaRPr lang="en-US" sz="1350" dirty="0"/>
          </a:p>
        </p:txBody>
      </p:sp>
      <p:pic>
        <p:nvPicPr>
          <p:cNvPr id="26" name="Image 3" descr="/tmp/rasterized-gradient-cfecb76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081980"/>
            <a:ext cx="4076700" cy="79236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76800" y="1272480"/>
            <a:ext cx="14942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SUCCEEDED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76800" y="1523851"/>
            <a:ext cx="14942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編譯成功，無警告錯誤</a:t>
            </a:r>
            <a:endParaRPr lang="en-US" sz="900" dirty="0"/>
          </a:p>
        </p:txBody>
      </p:sp>
      <p:pic>
        <p:nvPicPr>
          <p:cNvPr id="29" name="Image 4" descr="/tmp/rasterized-gradient-c6cdb07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988641"/>
            <a:ext cx="4076700" cy="79236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76800" y="2179141"/>
            <a:ext cx="14164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SUCCEEDED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876800" y="2430512"/>
            <a:ext cx="14164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 單元測試通過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686300" y="2895302"/>
            <a:ext cx="4076700" cy="1125736"/>
          </a:xfrm>
          <a:prstGeom prst="roundRect">
            <a:avLst>
              <a:gd name="adj" fmla="val 84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838700" y="3047702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技術棧</a:t>
            </a:r>
            <a:endParaRPr lang="en-US" sz="975" dirty="0"/>
          </a:p>
        </p:txBody>
      </p:sp>
      <p:pic>
        <p:nvPicPr>
          <p:cNvPr id="34" name="Image 5" descr="/tmp/rasterized-gradient-0d57dc6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526310"/>
            <a:ext cx="8382000" cy="38859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13766" y="464061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· 總評 98% · 可立即上線測試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未來發展藍圖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D9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784920"/>
            <a:ext cx="120062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短期（1-2 個月）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3368" y="1276350"/>
            <a:ext cx="17184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完成 PDF 匯入整合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53368" y="1487686"/>
            <a:ext cx="17184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AgentAutoTrigger 支援所有匯入方式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862882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3368" y="1996232"/>
            <a:ext cx="11204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Toast 錯誤提示系統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53368" y="2207568"/>
            <a:ext cx="11204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友善的錯誤訊息顯示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582763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3368" y="2716113"/>
            <a:ext cx="1152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U-start 提案準備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53368" y="2927449"/>
            <a:ext cx="1152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申請 NT$500K 政府補助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251150" y="7239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2150" y="784920"/>
            <a:ext cx="120062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中期（3-6 個月）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51150" y="1143000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51200" y="1276350"/>
            <a:ext cx="15382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寫作助手整合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651200" y="1487686"/>
            <a:ext cx="15382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ProfessionalEditor 自動推薦引用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51150" y="1862882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1200" y="1996232"/>
            <a:ext cx="1253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Calling 深度整合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651200" y="2207568"/>
            <a:ext cx="12536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自主決策工具調用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251150" y="2582763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1200" y="2716113"/>
            <a:ext cx="10926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測試計畫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651200" y="2927449"/>
            <a:ext cx="10926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邀請 100 名研究生試用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121301" y="7239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02301" y="784920"/>
            <a:ext cx="12870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長期（6-12 個月）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1301" y="1143000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81763" y="1276350"/>
            <a:ext cx="11755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機器學習個性化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481763" y="1487686"/>
            <a:ext cx="1175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學習用戶分類習慣並優化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121301" y="1862882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81763" y="1996232"/>
            <a:ext cx="10687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協作功能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481763" y="2207568"/>
            <a:ext cx="10687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團隊共享文獻庫與建議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121301" y="2582763"/>
            <a:ext cx="264155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81763" y="2716113"/>
            <a:ext cx="10687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市場擴展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481763" y="2927449"/>
            <a:ext cx="10687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港澳星馬中文學術市場</a:t>
            </a:r>
            <a:endParaRPr lang="en-US" sz="825" dirty="0"/>
          </a:p>
        </p:txBody>
      </p:sp>
      <p:pic>
        <p:nvPicPr>
          <p:cNvPr id="36" name="Image 0" descr="/tmp/rasterized-gradient-045631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385370"/>
            <a:ext cx="8382000" cy="52953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72059" y="4556820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願景：成為華語學術圈首選的 AI 文獻管理工具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OVEREND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OVEREND AI Agent 功能展示</dc:title>
  <dc:subject>AI Agent 智慧文獻管理系統</dc:subject>
  <dc:creator>OVEREND</dc:creator>
  <cp:lastModifiedBy>OVEREND</cp:lastModifiedBy>
  <cp:revision>1</cp:revision>
  <dcterms:created xsi:type="dcterms:W3CDTF">2026-01-11T09:38:15Z</dcterms:created>
  <dcterms:modified xsi:type="dcterms:W3CDTF">2026-01-11T09:38:15Z</dcterms:modified>
</cp:coreProperties>
</file>